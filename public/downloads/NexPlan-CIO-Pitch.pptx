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731520" cy="731520"/>
          </a:xfrm>
          <a:prstGeom prst="rect">
            <a:avLst>
              <a:gd name="adj" fmla="val 1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F5EE"/>
                </a:solidFill>
              </a:rPr>
              <a:t>NP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E1CB"/>
                </a:solidFill>
              </a:rPr>
              <a:t>NexPlan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CAA5"/>
                </a:solidFill>
              </a:rPr>
              <a:t>nexplan.io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AI-Powered IT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Project Management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E1CB"/>
                </a:solidFill>
              </a:rPr>
              <a:t>for Enterprise Infrastructure Teams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2560320" cy="914400"/>
          </a:xfrm>
          <a:prstGeom prst="rect">
            <a:avLst/>
          </a:prstGeom>
          <a:solidFill>
            <a:srgbClr val="0F6E56">
              <a:alpha val="6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58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F5EE"/>
                </a:solidFill>
              </a:rPr>
              <a:t>14×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cheaper than ServiceNow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840480"/>
            <a:ext cx="2560320" cy="914400"/>
          </a:xfrm>
          <a:prstGeom prst="rect">
            <a:avLst/>
          </a:prstGeom>
          <a:solidFill>
            <a:srgbClr val="0F6E56">
              <a:alpha val="6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858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F5EE"/>
                </a:solidFill>
              </a:rPr>
              <a:t>3×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more projects per PM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3840480"/>
            <a:ext cx="2560320" cy="914400"/>
          </a:xfrm>
          <a:prstGeom prst="rect">
            <a:avLst/>
          </a:prstGeom>
          <a:solidFill>
            <a:srgbClr val="0F6E56">
              <a:alpha val="6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8587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F5EE"/>
                </a:solidFill>
              </a:rPr>
              <a:t>40-65%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PM labour cost reduction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CAA5"/>
                </a:solidFill>
              </a:rPr>
              <a:t>CONFIDENTIAL — For authorised CIO / CTO presentation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 Every CIO Faces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0972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</a:rPr>
              <a:t>Grade inflation cost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Projects get assigned senior PMs (Band 7–9) even when execution complexity doesn't warrant it — because junior PMs lack domain knowledge to plan independently.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12848"/>
            <a:ext cx="73152" cy="10972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042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</a:rPr>
              <a:t>Knowledge bottleneck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6243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Complex infra projects (SD-WAN, DC migration, ERP) need scarce, expensive specialists. Hiring takes months. Projects stall.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11296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11296"/>
            <a:ext cx="73152" cy="10972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0273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</a:rPr>
              <a:t>Portfolio blindspot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9227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CIOs have no real-time view of RAG status, budget vs EAC, task progress — without paying ₹85,000/user/yr for ServiceNow.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NexPlan Solves This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9875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AI-Generated Project Plans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26C"/>
                </a:solidFill>
              </a:rPr>
              <a:t>PM enters scope in plain English. NexPlan generates pre-requisite steps, tasks, and post-implementation tests automatically. Any PM, any complexity.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50292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9875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Auto-populated Kanban 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26C"/>
                </a:solidFill>
              </a:rPr>
              <a:t>Tasks created by AI go straight to Kanban. PMs coordinate — not plan from scratch. 40% non-billable time saved.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9077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Grade Downlevelling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26C"/>
                </a:solidFill>
              </a:rPr>
              <a:t>Band 5 PM delivers Band 7–8 outcomes with AI guidance. ₹8–13L saved per PM per year.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346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34640"/>
            <a:ext cx="50292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9077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CIO Governance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26C"/>
                </a:solidFill>
              </a:rPr>
              <a:t>Live RAG, health scores, budget vs EAC, milestones — across all workspaces. Replaces ₹85K/user ServiceNow at ₹6K/user.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PM Grade Economics — The NexPlan Advantage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Grade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874520" y="7772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Title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46120" y="777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Avg CTC / yr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34840" y="777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Projects managed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8932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With NexPlan AI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070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8"/>
                </a:solidFill>
              </a:rPr>
              <a:t>L1 (Band 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12070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Junior PM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2070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₹7L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2070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Small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1207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→ Handles L3 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719072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37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8"/>
                </a:solidFill>
              </a:rPr>
              <a:t>L2 (Band 6)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17373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PM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7373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₹12L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1737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Small–Medium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→ Handles L4 work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49424"/>
            <a:ext cx="841248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2677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8"/>
                </a:solidFill>
              </a:rPr>
              <a:t>L3 (Band 7)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22677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Senior PM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22677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₹18L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22677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Medium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2267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→ Handles L5 work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79776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7980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8"/>
                </a:solidFill>
              </a:rPr>
              <a:t>L4 (Band 8)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74520" y="2798064"/>
            <a:ext cx="132588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Lead PM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2798064"/>
            <a:ext cx="11430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₹27L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27980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Medium–Large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2798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→ Handles programme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310128"/>
            <a:ext cx="8412480" cy="502920"/>
          </a:xfrm>
          <a:prstGeom prst="rect">
            <a:avLst/>
          </a:prstGeom>
          <a:solidFill>
            <a:srgbClr val="F4F3E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284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8"/>
                </a:solidFill>
              </a:rPr>
              <a:t>L5 (Band 9)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74520" y="3328416"/>
            <a:ext cx="132588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Principal PM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46120" y="3328416"/>
            <a:ext cx="11430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₹41L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34840" y="33284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Large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89320" y="33284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→ Strategic oversight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8587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8"/>
                </a:solidFill>
              </a:rPr>
              <a:t>L6 (Band 11)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74520" y="38587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VP / Head PM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46120" y="38587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₹70L+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34840" y="3858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</a:rPr>
              <a:t>Programme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89320" y="3858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→ Board-level only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With NexPlan AI: a Band 5 PM delivers Band 7 outcomes  →  saves ₹11L per PM per year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ROI — Example: 50-user, 10 PM Team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EB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411480"/>
          </a:xfrm>
          <a:prstGeom prst="rect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1F1F"/>
                </a:solidFill>
              </a:rPr>
              <a:t>Without NexPlan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10 PMs at avg L3 (₹18L/yr)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8"/>
                </a:solidFill>
              </a:rPr>
              <a:t>₹1,80,00,000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Tool cost (Jira 100 users)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8"/>
                </a:solidFill>
              </a:rPr>
              <a:t>₹18,00,000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Projects managed/yr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8"/>
                </a:solidFill>
              </a:rPr>
              <a:t>30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Cost per project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3017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8"/>
                </a:solidFill>
              </a:rPr>
              <a:t>₹66,000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Total annual cost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566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8"/>
                </a:solidFill>
              </a:rPr>
              <a:t>₹1,98,00,000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With NexPlan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3 PMs needed (AI handles rest)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8"/>
                </a:solidFill>
              </a:rPr>
              <a:t>₹54,00,000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NexPlan 50 users @ ₹6K/yr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8"/>
                </a:solidFill>
              </a:rPr>
              <a:t>₹3,00,000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Projects managed/yr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8"/>
                </a:solidFill>
              </a:rPr>
              <a:t>90+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Cost per project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3017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18"/>
                </a:solidFill>
              </a:rPr>
              <a:t>₹19,000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26C"/>
                </a:solidFill>
              </a:rPr>
              <a:t>Total annual cost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3566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₹57,00,000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6177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Annual saving: ₹1,41,00,000 · ROI: 247% · Payback: 5 months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NexPlan vs Market — Feature &amp; Cost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0" y="777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₹/user/yr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777240"/>
            <a:ext cx="960120" cy="36576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Insights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80560" y="777240"/>
            <a:ext cx="868680" cy="36576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Infra PM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94960" y="777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Kanban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55080" y="777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Auto Tasks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777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CIO Dashboard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07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8"/>
                </a:solidFill>
              </a:rPr>
              <a:t>Microsoft Project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1207008"/>
            <a:ext cx="11430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8"/>
                </a:solidFill>
              </a:rPr>
              <a:t>₹30,000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1207008"/>
            <a:ext cx="9601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1207008"/>
            <a:ext cx="86868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1207008"/>
            <a:ext cx="9144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207008"/>
            <a:ext cx="9144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12070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181051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828800"/>
            <a:ext cx="18745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8"/>
                </a:solidFill>
              </a:rPr>
              <a:t>Jira + Confluence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1828800"/>
            <a:ext cx="11430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8"/>
                </a:solidFill>
              </a:rPr>
              <a:t>₹18,000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1828800"/>
            <a:ext cx="9601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1828800"/>
            <a:ext cx="86868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1828800"/>
            <a:ext cx="9144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1828800"/>
            <a:ext cx="9144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1828800"/>
            <a:ext cx="14173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432304"/>
            <a:ext cx="8412480" cy="566928"/>
          </a:xfrm>
          <a:prstGeom prst="rect">
            <a:avLst/>
          </a:prstGeom>
          <a:solidFill>
            <a:srgbClr val="F4F3E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50592"/>
            <a:ext cx="18745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8"/>
                </a:solidFill>
              </a:rPr>
              <a:t>ServiceNow PPM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2450592"/>
            <a:ext cx="11430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8"/>
                </a:solidFill>
              </a:rPr>
              <a:t>₹85,000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2450592"/>
            <a:ext cx="9601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80560" y="2450592"/>
            <a:ext cx="86868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2450592"/>
            <a:ext cx="9144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2450592"/>
            <a:ext cx="9144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2450592"/>
            <a:ext cx="14173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05409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072384"/>
            <a:ext cx="18745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8"/>
                </a:solidFill>
              </a:rPr>
              <a:t>Monday.com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286000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8"/>
                </a:solidFill>
              </a:rPr>
              <a:t>₹24,000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0" y="3072384"/>
            <a:ext cx="9601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80560" y="3072384"/>
            <a:ext cx="86868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3072384"/>
            <a:ext cx="9144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3072384"/>
            <a:ext cx="9144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3072384"/>
            <a:ext cx="14173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32D2D"/>
                </a:solidFill>
              </a:rPr>
              <a:t>✗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675888"/>
            <a:ext cx="8412480" cy="566928"/>
          </a:xfrm>
          <a:prstGeom prst="rect">
            <a:avLst/>
          </a:prstGeom>
          <a:solidFill>
            <a:srgbClr val="E1F5EE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694176"/>
            <a:ext cx="18745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NexPlan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286000" y="3694176"/>
            <a:ext cx="11430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</a:rPr>
              <a:t>₹6,000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74720" y="3694176"/>
            <a:ext cx="9601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480560" y="3694176"/>
            <a:ext cx="86868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94960" y="3694176"/>
            <a:ext cx="9144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55080" y="3694176"/>
            <a:ext cx="91440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3694176"/>
            <a:ext cx="1417320" cy="53035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6E56"/>
                </a:solidFill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NexPlan is 14× cheaper than ServiceNow  ·  3× cheaper than Jira  ·  Purpose-built for IT infrastructure teams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Deployment — SaaS or Your Data Center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51760" cy="5486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SaaS (Managed)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nexplan.io · Recommended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Go-live in 2–4 weeks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9568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₹6,000/user/year all-inclusive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AI powered by Claude (bundled)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2980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SOC 2 · ISO 27001 · 99.95% SLA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493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Automatic updates · zero ops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4389120"/>
            <a:ext cx="2468880" cy="347472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389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5041"/>
                </a:solidFill>
              </a:rPr>
              <a:t>Recommended for speed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54680" y="77724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777240"/>
            <a:ext cx="2651760" cy="54864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777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Center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1078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Your servers · Air-gap option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Deploy on your own infrastructure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19568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Docker / Kubernetes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LDAP / SAML / Azure AD SSO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2980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Air-gap mode — no internet needed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64408" y="3493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FISC · PCI-DSS · full data sovereignty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4389120"/>
            <a:ext cx="2468880" cy="34747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4389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447C"/>
                </a:solidFill>
              </a:rPr>
              <a:t>Required for air-gap / banking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777240"/>
            <a:ext cx="2651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777240"/>
            <a:ext cx="2651760" cy="54864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777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 LLM Option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0760" y="1078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Ollama · Zero API cost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99048" y="14447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Install Ollama on your GPU server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9048" y="19568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No Anthropic API needed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99048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llama3, mistral, qwen2 supported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99048" y="2980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Runs 100% inside your network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99048" y="3493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Free forever — no per-token cost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4389120"/>
            <a:ext cx="2468880" cy="347472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4389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3806"/>
                </a:solidFill>
              </a:rPr>
              <a:t>Best for regulated DC clients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NexPlan AI Cost — What We Pay Anthropic vs What You Pay 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3726C"/>
                </a:solidFill>
              </a:rPr>
              <a:t>All 9 AI features (project plan, insights, status reports, risk mitigation, followups, diagrams, PCR, infra analysis) use Haiku 4.5 or Sonnet 4.6 depending on complexity.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Feature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29000" y="1325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00600" y="1325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Tokens/call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35040" y="13258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Calls/user/mo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0" y="1325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Cost/user/mo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8412480" cy="283464"/>
          </a:xfrm>
          <a:prstGeom prst="rect">
            <a:avLst/>
          </a:prstGeom>
          <a:solidFill>
            <a:srgbClr val="F4F3E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30175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AI Project Manager (scope → plan)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29000" y="1728216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Sonnet 4.6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0600" y="1728216"/>
            <a:ext cx="11887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3,500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1728216"/>
            <a:ext cx="114300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223760" y="1728216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₹14.8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020824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029968"/>
            <a:ext cx="30175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Generate Insights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29000" y="2029968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Sonnet 4.6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029968"/>
            <a:ext cx="11887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2,300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35040" y="2029968"/>
            <a:ext cx="114300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23760" y="2029968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₹14.4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322576"/>
            <a:ext cx="8412480" cy="283464"/>
          </a:xfrm>
          <a:prstGeom prst="rect">
            <a:avLst/>
          </a:prstGeom>
          <a:solidFill>
            <a:srgbClr val="F4F3E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331720"/>
            <a:ext cx="30175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Status Report generation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29000" y="2331720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Haiku 4.5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2331720"/>
            <a:ext cx="11887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1,800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5040" y="2331720"/>
            <a:ext cx="114300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23760" y="2331720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₹0.8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624328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633472"/>
            <a:ext cx="30175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Risk mitigation suggestions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29000" y="2633472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Haiku 4.5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2633472"/>
            <a:ext cx="11887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1,200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35040" y="2633472"/>
            <a:ext cx="114300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23760" y="2633472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₹0.4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926080"/>
            <a:ext cx="8412480" cy="283464"/>
          </a:xfrm>
          <a:prstGeom prst="rect">
            <a:avLst/>
          </a:prstGeom>
          <a:solidFill>
            <a:srgbClr val="F4F3E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935224"/>
            <a:ext cx="30175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AI text generation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29000" y="2935224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Haiku 4.5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2935224"/>
            <a:ext cx="11887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700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35040" y="2935224"/>
            <a:ext cx="114300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5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23760" y="2935224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₹0.3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3227832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36976"/>
            <a:ext cx="30175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AI follow-up suggestions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429000" y="3236976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Haiku 4.5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0600" y="3236976"/>
            <a:ext cx="11887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500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35040" y="3236976"/>
            <a:ext cx="114300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223760" y="3236976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₹0.2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3529584"/>
            <a:ext cx="8412480" cy="283464"/>
          </a:xfrm>
          <a:prstGeom prst="rect">
            <a:avLst/>
          </a:prstGeom>
          <a:solidFill>
            <a:srgbClr val="F4F3E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538728"/>
            <a:ext cx="30175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Network diagram generation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429000" y="3538728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Sonnet 4.6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00600" y="3538728"/>
            <a:ext cx="11887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1,400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035040" y="3538728"/>
            <a:ext cx="114300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2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23760" y="3538728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₹3.1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3831336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840480"/>
            <a:ext cx="30175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PCR generation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429000" y="3840480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Haiku 4.5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00600" y="3840480"/>
            <a:ext cx="11887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1,200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35040" y="3840480"/>
            <a:ext cx="114300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223760" y="3840480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₹0.3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4133088"/>
            <a:ext cx="8412480" cy="283464"/>
          </a:xfrm>
          <a:prstGeom prst="rect">
            <a:avLst/>
          </a:prstGeom>
          <a:solidFill>
            <a:srgbClr val="F4F3EF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142232"/>
            <a:ext cx="30175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Infra impact analysis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429000" y="4142232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Sonnet 4.6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800600" y="4142232"/>
            <a:ext cx="11887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1,700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035040" y="4142232"/>
            <a:ext cx="114300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2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223760" y="4142232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8"/>
                </a:solidFill>
              </a:rPr>
              <a:t>₹3.5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65760" y="4434840"/>
            <a:ext cx="8412480" cy="283464"/>
          </a:xfrm>
          <a:prstGeom prst="rect">
            <a:avLst/>
          </a:prstGeom>
          <a:solidFill>
            <a:srgbClr val="E1F5EE"/>
          </a:solidFill>
          <a:ln w="12700">
            <a:solidFill>
              <a:srgbClr val="D4ED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4443984"/>
            <a:ext cx="30175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85041"/>
                </a:solidFill>
              </a:rPr>
              <a:t>TOTAL (worst case, no caching)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429000" y="4443984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800600" y="4443984"/>
            <a:ext cx="118872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035040" y="4443984"/>
            <a:ext cx="114300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223760" y="4443984"/>
            <a:ext cx="1325880" cy="265176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5041"/>
                </a:solidFill>
              </a:rPr>
              <a:t>₹37.8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5760" y="4681728"/>
            <a:ext cx="8412480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46817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With prompt caching + Batch API: ~₹5/user/mo  ·  ₹60/user/yr  ·  vs ₹500 you charge  ·  97% gross margin on AI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Recommended Pricing — 2× Cheaper Than Jira, All AI Included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6517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C447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651760" cy="4572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Starter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447C"/>
                </a:solidFill>
              </a:rPr>
              <a:t>₹1,00,000/yr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Up to 25 users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148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</a:rPr>
              <a:t>✓  ₹4,000/user/yr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6060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5M tokens/month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3063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All 9 AI features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5204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Kanban + Project Plan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3977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Email support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777240"/>
            <a:ext cx="2651760" cy="416052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777240"/>
            <a:ext cx="2651760" cy="4572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Business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4612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</a:rPr>
              <a:t>₹3,50,000/yr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46120" y="1755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Up to 100 users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64408" y="2148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✓  ₹3,500/user/yr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26060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20M tokens/month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64408" y="3063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CIO Governance Dashboard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64408" y="35204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Multi-workspace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64408" y="3977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Priority support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4553712"/>
            <a:ext cx="265176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4553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MOST POPULAR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777240"/>
            <a:ext cx="26517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504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777240"/>
            <a:ext cx="2651760" cy="457200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Enterprise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8076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5041"/>
                </a:solidFill>
              </a:rPr>
              <a:t>₹8,00,000+/yr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080760" y="17556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Unlimited users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99048" y="21488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5041"/>
                </a:solidFill>
              </a:rPr>
              <a:t>✓  Custom pricing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99048" y="26060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Unlimited AI tokens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99048" y="3063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Data Center option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99048" y="35204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LDAP / SAML / Azure AD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99048" y="3977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26C"/>
                </a:solidFill>
              </a:rPr>
              <a:t>✓  Dedicated CSM + SLA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2D2D"/>
                </a:solidFill>
              </a:rPr>
              <a:t>Jira charges ₹18,000/user/yr · No AI · No infra PM module · No CIO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E1CB"/>
                </a:solidFill>
              </a:rPr>
              <a:t>The Pitch Close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8046720" cy="2286000"/>
          </a:xfrm>
          <a:prstGeom prst="rect">
            <a:avLst/>
          </a:prstGeom>
          <a:solidFill>
            <a:srgbClr val="0F6E56">
              <a:alpha val="7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772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1F5EE"/>
                </a:solidFill>
              </a:rPr>
              <a:t>"NexPlan doesn't replace your Project Managers — it makes every PM perform at the level of someone two grades above them. You get Band 7 output at Band 5 cost.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1F5EE"/>
                </a:solidFill>
              </a:rPr>
              <a:t>For an organisation running 30+ IT projects a year, that's not a software purchase — it's a structural cost reduction of ₹1–3 Cr per year. At ₹6,000/user/year, the ROI pays back in under 6 months."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</a:rPr>
              <a:t>→  nexplan.io — live today, SaaS, go-live in 2 weeks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749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</a:rPr>
              <a:t>→  Data Center option for banks, defence, FISC-regulated entities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114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</a:rPr>
              <a:t>→  No per-project fees · One annual licence · Everything included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E1CB"/>
                </a:solidFill>
              </a:rPr>
              <a:t>→  Free trial available — contact info@nexplan.io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solidFill>
            <a:srgbClr val="0F6E56">
              <a:alpha val="4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CAA5"/>
                </a:solidFill>
              </a:rPr>
              <a:t>nexplan.io  ·  info@nexplan.io  ·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NexPlan CIO Pitch Deck</dc:title>
  <dc:subject>PptxGenJS Presentation</dc:subject>
  <dc:creator>NexPlan</dc:creator>
  <cp:lastModifiedBy>NexPlan</cp:lastModifiedBy>
  <cp:revision>1</cp:revision>
  <dcterms:created xsi:type="dcterms:W3CDTF">2026-04-10T20:46:58Z</dcterms:created>
  <dcterms:modified xsi:type="dcterms:W3CDTF">2026-04-10T20:46:58Z</dcterms:modified>
</cp:coreProperties>
</file>